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011680"/>
            <a:ext cx="5486400" cy="5486400"/>
          </a:xfrm>
          <a:prstGeom prst="ellipse">
            <a:avLst/>
          </a:prstGeom>
          <a:solidFill>
            <a:srgbClr val="4361EE">
              <a:alpha val="22000"/>
            </a:srgbClr>
          </a:solidFill>
          <a:ln w="12700">
            <a:solidFill>
              <a:srgbClr val="4361E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3BAA">
              <a:alpha val="28000"/>
            </a:srgbClr>
          </a:solidFill>
          <a:ln w="12700">
            <a:solidFill>
              <a:srgbClr val="1A3BA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8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  ·  APPRENTICESHIP CHALLENGE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Social Media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Plan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1463040" cy="64008"/>
          </a:xfrm>
          <a:prstGeom prst="rect">
            <a:avLst/>
          </a:prstGeom>
          <a:solidFill>
            <a:srgbClr val="6B8F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 to 650 new followers across 4 platforms in 30 days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 ·  Weekly Plan  ·  Time Prioritization  ·  Tracking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2011680" cy="640080"/>
          </a:xfrm>
          <a:prstGeom prst="rect">
            <a:avLst/>
          </a:prstGeom>
          <a:solidFill>
            <a:srgbClr val="1A3BAA">
              <a:alpha val="70000"/>
            </a:srgbClr>
          </a:solidFill>
          <a:ln w="12700">
            <a:solidFill>
              <a:srgbClr val="6B8FF5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0048" y="4251960"/>
            <a:ext cx="2011680" cy="640080"/>
          </a:xfrm>
          <a:prstGeom prst="rect">
            <a:avLst/>
          </a:prstGeom>
          <a:solidFill>
            <a:srgbClr val="1A3BAA">
              <a:alpha val="70000"/>
            </a:srgbClr>
          </a:solidFill>
          <a:ln w="12700">
            <a:solidFill>
              <a:srgbClr val="6B8FF5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70048" y="4572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4251960"/>
            <a:ext cx="2011680" cy="640080"/>
          </a:xfrm>
          <a:prstGeom prst="rect">
            <a:avLst/>
          </a:prstGeom>
          <a:solidFill>
            <a:srgbClr val="1A3BAA">
              <a:alpha val="70000"/>
            </a:srgbClr>
          </a:solidFill>
          <a:ln w="12700">
            <a:solidFill>
              <a:srgbClr val="6B8FF5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4572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04888" y="4251960"/>
            <a:ext cx="2011680" cy="640080"/>
          </a:xfrm>
          <a:prstGeom prst="rect">
            <a:avLst/>
          </a:prstGeom>
          <a:solidFill>
            <a:srgbClr val="1A3BAA">
              <a:alpha val="70000"/>
            </a:srgbClr>
          </a:solidFill>
          <a:ln w="12700">
            <a:solidFill>
              <a:srgbClr val="6B8FF5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04888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04888" y="4572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(Twitter)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  ·  Challenge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30-day growth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029968" cy="3566160"/>
          </a:xfrm>
          <a:prstGeom prst="rect">
            <a:avLst/>
          </a:prstGeom>
          <a:solidFill>
            <a:srgbClr val="2347C5"/>
          </a:solidFill>
          <a:ln w="12700">
            <a:solidFill>
              <a:srgbClr val="2347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515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75564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6324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value — employer audience directly feeds Umurava's sales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7752" y="1005840"/>
            <a:ext cx="2029968" cy="356616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87752" y="10515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87752" y="13716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87752" y="187452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+200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587752" y="2606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24912" y="2971800"/>
            <a:ext cx="175564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79192" y="306324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African talent 18–35. Reels offer massive organic reach with zero ad spend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64024" y="1005840"/>
            <a:ext cx="2029968" cy="35661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0515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64024" y="13716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TikTok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64024" y="187452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4764024" y="2606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01184" y="2971800"/>
            <a:ext cx="175564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306324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is democratic — one strong video from a new account can reach thousands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0296" y="1005840"/>
            <a:ext cx="2029968" cy="3566160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0296" y="10515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0296" y="13716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(Twitter)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40296" y="187452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6940296" y="260604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77456" y="2971800"/>
            <a:ext cx="1755648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031736" y="306324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target. Treated as a distribution channel, repurposing LinkedIn content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target: 650 new followers in 30 days across 4 platforms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  ·  Challenge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strategy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&amp; Instagram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8321040" cy="320040"/>
          </a:xfrm>
          <a:prstGeom prst="rect">
            <a:avLst/>
          </a:prstGeom>
          <a:solidFill>
            <a:srgbClr val="2347C5"/>
          </a:solidFill>
          <a:ln w="12700">
            <a:solidFill>
              <a:srgbClr val="234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 ·  +300  ·  Priority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18488"/>
            <a:ext cx="8321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18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frequency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61848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posts per week — carousels, insight posts, short videos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8321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outreach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020824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personalized requests per day to HR managers, CTOs, and talent leads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423160"/>
            <a:ext cx="8321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23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engagement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42316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meaningfully on 5 posts per day in hiring and remote-work spaces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825496"/>
            <a:ext cx="8321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254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angle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282549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leadership for decision-makers — remote hiring stats, talent market insights, success stories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154680"/>
            <a:ext cx="8321040" cy="32004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 ·  +200  ·  Priority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538728"/>
            <a:ext cx="8321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38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frequency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353872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 posts per week: 3 Reels and 2 carousels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941064"/>
            <a:ext cx="8321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410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strategy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3941064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niche hashtags per post — avoid oversaturated tags for better reach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343400"/>
            <a:ext cx="8321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43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434340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per day engaging in career and African talent hashtag communities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745736"/>
            <a:ext cx="8321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45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angle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474573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Aspirational and motivational — talent spotlights, career wins, platform walkthroughs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  ·  Challenge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strategy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&amp; X (Twitter)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8321040" cy="3200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 ·  +100  ·  Priority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18488"/>
            <a:ext cx="8321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184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frequency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16184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posts per week — punchy career tips under 60 seconds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8321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hack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02082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with every comment within the first hour of posting to trigger TikTok's push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423160"/>
            <a:ext cx="8321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23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tactic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4231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 top Instagram Reels to save production time and test cross-platform performance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825496"/>
            <a:ext cx="8321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254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angle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282549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meets entertainment — fast, surprising, immediately useful. Hook must land in 2 seconds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154680"/>
            <a:ext cx="832104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(Twitter)  ·  +50  ·  Priority 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538728"/>
            <a:ext cx="8321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387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frequency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353872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insight thread per week + daily hot-takes and stats under 280 characters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941064"/>
            <a:ext cx="8321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410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tactic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94106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to 3–5 HR leaders and talent thought-leaders per day to build name recognition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343400"/>
            <a:ext cx="8321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43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approach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43434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X as a distribution channel — repurpose LinkedIn content, not original creation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745736"/>
            <a:ext cx="8321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457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angle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74573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Sharp, opinionated, data-backed takes on the future of work and African talent markets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  ·  Challenge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4-week action plan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60520" cy="347472"/>
          </a:xfrm>
          <a:prstGeom prst="rect">
            <a:avLst/>
          </a:prstGeom>
          <a:solidFill>
            <a:srgbClr val="2347C5"/>
          </a:solidFill>
          <a:ln w="12700">
            <a:solidFill>
              <a:srgbClr val="2347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 ·  Days 1–7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first impressions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53312"/>
            <a:ext cx="4160520" cy="1481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517904"/>
            <a:ext cx="109728" cy="109728"/>
          </a:xfrm>
          <a:prstGeom prst="ellipse">
            <a:avLst/>
          </a:prstGeom>
          <a:solidFill>
            <a:srgbClr val="2347C5"/>
          </a:solidFill>
          <a:ln w="12700">
            <a:solidFill>
              <a:srgbClr val="2347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630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ALL platform profiles — bios, images, keywords, pinned posts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" y="1956816"/>
            <a:ext cx="109728" cy="109728"/>
          </a:xfrm>
          <a:prstGeom prst="ellipse">
            <a:avLst/>
          </a:prstGeom>
          <a:solidFill>
            <a:srgbClr val="2347C5"/>
          </a:solidFill>
          <a:ln w="12700">
            <a:solidFill>
              <a:srgbClr val="2347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019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75 personalized connection requests to decision-makers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395728"/>
            <a:ext cx="109728" cy="109728"/>
          </a:xfrm>
          <a:prstGeom prst="ellipse">
            <a:avLst/>
          </a:prstGeom>
          <a:solidFill>
            <a:srgbClr val="2347C5"/>
          </a:solidFill>
          <a:ln w="12700">
            <a:solidFill>
              <a:srgbClr val="2347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4086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first 5 posts on LinkedIn, 5 on Instagram, 3 on TikTok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4160520" cy="3474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632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Days 8–14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264408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 &amp; consistency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410712"/>
            <a:ext cx="4160520" cy="1481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" y="3575304"/>
            <a:ext cx="109728" cy="10972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204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Week 1 — double down on top formats, cut what underperformed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" y="4014216"/>
            <a:ext cx="109728" cy="10972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593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Launch 5-part thought leadership series (1 post/day)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" y="4453128"/>
            <a:ext cx="109728" cy="10972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39826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Talent spotlight series — feature 2 African professionals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005840"/>
            <a:ext cx="416052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0058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 ·  Days 15–21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207008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Amplification &amp; collaboration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353312"/>
            <a:ext cx="4160520" cy="1481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0328" y="1517904"/>
            <a:ext cx="109728" cy="10972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14630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push — every LinkedIn post condensed for X, every Reel on TikTok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0328" y="1956816"/>
            <a:ext cx="109728" cy="10972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9019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2–3 African career creators for shoutout exchanges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10328" y="2395728"/>
            <a:ext cx="109728" cy="10972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34086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15 mid-point audit — any platform below 50% pace gets emergency action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063240"/>
            <a:ext cx="4160520" cy="34747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0632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 ·  Days 22–30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264408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&amp; final push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410712"/>
            <a:ext cx="4160520" cy="1481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0328" y="3575304"/>
            <a:ext cx="109728" cy="10972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5204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Repost top 2 performing pieces with fresh captions for new followers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10328" y="4014216"/>
            <a:ext cx="109728" cy="10972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9593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LinkedIn connection requests per day — highest volume of the month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10328" y="4453128"/>
            <a:ext cx="109728" cy="10972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39826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bold viral attempt on Instagram/TikTok to close any remaining gap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builds on the last. Foundation → Acceleration → Amplification → Consolidation.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645920"/>
            <a:ext cx="4114800" cy="41148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A3BAA">
              <a:alpha val="25000"/>
            </a:srgbClr>
          </a:solidFill>
          <a:ln w="12700">
            <a:solidFill>
              <a:srgbClr val="1A3BA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8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prioritization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allocate effort across 4 platforms to hit every target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508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581912"/>
            <a:ext cx="4572000" cy="182880"/>
          </a:xfrm>
          <a:prstGeom prst="rect">
            <a:avLst/>
          </a:prstGeom>
          <a:solidFill>
            <a:srgbClr val="1A3BAA">
              <a:alpha val="8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581912"/>
            <a:ext cx="4114800" cy="1828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508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target. Employer audience. Every hour delivers dual ROI — growth AND qualified leads for Umurava's pipeline.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25856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2331720"/>
            <a:ext cx="4572000" cy="182880"/>
          </a:xfrm>
          <a:prstGeom prst="rect">
            <a:avLst/>
          </a:prstGeom>
          <a:solidFill>
            <a:srgbClr val="1A3BAA">
              <a:alpha val="8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331720"/>
            <a:ext cx="2743200" cy="1828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25856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largest target. Reels offer best organic reach of any format. Content needs quality — so it needs time.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8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300837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468880" y="3081528"/>
            <a:ext cx="4572000" cy="182880"/>
          </a:xfrm>
          <a:prstGeom prst="rect">
            <a:avLst/>
          </a:prstGeom>
          <a:solidFill>
            <a:srgbClr val="1A3BAA">
              <a:alpha val="8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3081528"/>
            <a:ext cx="1371600" cy="1828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3008376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 Instagram Reels to save time. One viral video can hit the target in a single day.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7581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8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(Twitter)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3758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468880" y="3831336"/>
            <a:ext cx="4572000" cy="182880"/>
          </a:xfrm>
          <a:prstGeom prst="rect">
            <a:avLst/>
          </a:prstGeom>
          <a:solidFill>
            <a:srgbClr val="1A3BAA">
              <a:alpha val="8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3831336"/>
            <a:ext cx="914400" cy="18288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3758184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 LinkedIn threads. Treat as bonus reach — not the primary growth engine this month.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8229600" cy="475488"/>
          </a:xfrm>
          <a:prstGeom prst="rect">
            <a:avLst/>
          </a:prstGeom>
          <a:solidFill>
            <a:srgbClr val="1A3BAA">
              <a:alpha val="70000"/>
            </a:srgbClr>
          </a:solidFill>
          <a:ln w="12700">
            <a:solidFill>
              <a:srgbClr val="6B8FF5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52628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4526280"/>
            <a:ext cx="6720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sacrifice LinkedIn quality for TikTok quantity. The highest-value audience is on LinkedIn — it gets the best content and the most attention, every single day.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  ·  Challenge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measure success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329184"/>
          </a:xfrm>
          <a:prstGeom prst="rect">
            <a:avLst/>
          </a:prstGeom>
          <a:solidFill>
            <a:srgbClr val="2347C5"/>
          </a:solidFill>
          <a:ln w="12700">
            <a:solidFill>
              <a:srgbClr val="2347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21408" y="960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target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85616" y="960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target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49824" y="960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14032" y="9601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289304"/>
            <a:ext cx="83210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8930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21408" y="128930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85616" y="128930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9824" y="128930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14032" y="128930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1636776"/>
            <a:ext cx="8321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367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21408" y="16367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85616" y="16367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9824" y="16367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14032" y="16367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1984248"/>
            <a:ext cx="83210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9842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21408" y="19842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85616" y="19842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9824" y="19842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14032" y="19842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2331720"/>
            <a:ext cx="8321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3317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(Twitter)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21408" y="23317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85616" y="23317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9824" y="23317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14032" y="23317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47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1480" y="2852928"/>
            <a:ext cx="4041648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2852928"/>
            <a:ext cx="54864" cy="8046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28986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check-in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3127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Monday: record follower counts on all 4 platforms vs. milestone targets above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852928"/>
            <a:ext cx="4041648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2852928"/>
            <a:ext cx="54864" cy="8046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8986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engagement rate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3127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comments, saves per post — the leading indicator that predicts follower growth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3749040"/>
            <a:ext cx="4041648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11480" y="3749040"/>
            <a:ext cx="54864" cy="8046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794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15 audit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halfway mark, any platform below 40% pace triggers an immediate strategy adjustment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17720" y="3749040"/>
            <a:ext cx="4041648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3749040"/>
            <a:ext cx="54864" cy="8046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794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posts weekly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5488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best content each week and replicate that format — iteration is the growth engine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platform falls below 60% of its weekly pace — the strategy adjusts immediately, not at the end of the month.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B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2347C5">
              <a:alpha val="30000"/>
            </a:srgbClr>
          </a:solidFill>
          <a:ln w="12700">
            <a:solidFill>
              <a:srgbClr val="2347C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828800"/>
            <a:ext cx="5029200" cy="5029200"/>
          </a:xfrm>
          <a:prstGeom prst="ellipse">
            <a:avLst/>
          </a:prstGeom>
          <a:solidFill>
            <a:srgbClr val="4361EE">
              <a:alpha val="25000"/>
            </a:srgbClr>
          </a:solidFill>
          <a:ln w="12700">
            <a:solidFill>
              <a:srgbClr val="4361E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502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6B8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650 followers.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days.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focused strategy.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built. The targets are clear. The only thing left is execution.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4041648"/>
            <a:ext cx="3108960" cy="512064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404164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grow Umurava.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Umurava Challenge 5 — 30-Day Growth Plan</dc:title>
  <dc:subject>PptxGenJS Presentation</dc:subject>
  <dc:creator>PptxGenJS</dc:creator>
  <cp:lastModifiedBy>PptxGenJS</cp:lastModifiedBy>
  <cp:revision>1</cp:revision>
  <dcterms:created xsi:type="dcterms:W3CDTF">2026-04-25T17:09:17Z</dcterms:created>
  <dcterms:modified xsi:type="dcterms:W3CDTF">2026-04-25T17:09:17Z</dcterms:modified>
</cp:coreProperties>
</file>