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4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4361EE">
              <a:alpha val="25000"/>
            </a:srgbClr>
          </a:solidFill>
          <a:ln w="12700">
            <a:solidFill>
              <a:srgbClr val="4361E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6B8FF5">
              <a:alpha val="20000"/>
            </a:srgbClr>
          </a:solidFill>
          <a:ln w="12700">
            <a:solidFill>
              <a:srgbClr val="6B8FF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4361EE">
              <a:alpha val="20000"/>
            </a:srgbClr>
          </a:solidFill>
          <a:ln w="12700">
            <a:solidFill>
              <a:srgbClr val="4361EE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365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15-Day Social Media</a:t>
            </a:r>
            <a:endParaRPr lang="en-US" sz="5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Calendar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1280160" cy="64008"/>
          </a:xfrm>
          <a:prstGeom prst="rect">
            <a:avLst/>
          </a:prstGeom>
          <a:solidFill>
            <a:srgbClr val="A8BFF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Audience: Employers &amp; Decision-Makers  ·  Goal: Leads, Trust &amp; Brand Authority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Posts  ·  15 Days  ·  Built to Convert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617720"/>
            <a:ext cx="475488" cy="256032"/>
          </a:xfrm>
          <a:prstGeom prst="rect">
            <a:avLst/>
          </a:prstGeom>
          <a:solidFill>
            <a:srgbClr val="4361EE"/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61772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46988" y="4617720"/>
            <a:ext cx="475488" cy="256032"/>
          </a:xfrm>
          <a:prstGeom prst="rect">
            <a:avLst/>
          </a:prstGeom>
          <a:solidFill>
            <a:srgbClr val="4361EE"/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6988" y="461772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591056" y="4617720"/>
            <a:ext cx="475488" cy="256032"/>
          </a:xfrm>
          <a:prstGeom prst="rect">
            <a:avLst/>
          </a:prstGeom>
          <a:solidFill>
            <a:srgbClr val="4361EE"/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91056" y="461772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35124" y="4617720"/>
            <a:ext cx="475488" cy="256032"/>
          </a:xfrm>
          <a:prstGeom prst="rect">
            <a:avLst/>
          </a:prstGeom>
          <a:solidFill>
            <a:srgbClr val="4361EE"/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5124" y="461772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79192" y="4617720"/>
            <a:ext cx="475488" cy="256032"/>
          </a:xfrm>
          <a:prstGeom prst="rect">
            <a:avLst/>
          </a:prstGeom>
          <a:solidFill>
            <a:srgbClr val="4361EE"/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9192" y="461772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23260" y="4617720"/>
            <a:ext cx="475488" cy="256032"/>
          </a:xfrm>
          <a:prstGeom prst="rect">
            <a:avLst/>
          </a:prstGeom>
          <a:solidFill>
            <a:srgbClr val="6B8FF5"/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23260" y="461772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67328" y="4617720"/>
            <a:ext cx="475488" cy="256032"/>
          </a:xfrm>
          <a:prstGeom prst="rect">
            <a:avLst/>
          </a:prstGeom>
          <a:solidFill>
            <a:srgbClr val="6B8FF5"/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67328" y="461772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11396" y="4617720"/>
            <a:ext cx="475488" cy="256032"/>
          </a:xfrm>
          <a:prstGeom prst="rect">
            <a:avLst/>
          </a:prstGeom>
          <a:solidFill>
            <a:srgbClr val="6B8FF5"/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1396" y="461772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55464" y="4617720"/>
            <a:ext cx="475488" cy="256032"/>
          </a:xfrm>
          <a:prstGeom prst="rect">
            <a:avLst/>
          </a:prstGeom>
          <a:solidFill>
            <a:srgbClr val="6B8FF5"/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55464" y="461772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99532" y="4617720"/>
            <a:ext cx="475488" cy="256032"/>
          </a:xfrm>
          <a:prstGeom prst="rect">
            <a:avLst/>
          </a:prstGeom>
          <a:solidFill>
            <a:srgbClr val="6B8FF5"/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9532" y="461772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4617720"/>
            <a:ext cx="475488" cy="256032"/>
          </a:xfrm>
          <a:prstGeom prst="rect">
            <a:avLst/>
          </a:prstGeom>
          <a:solidFill>
            <a:srgbClr val="A8BFFB"/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461772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4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87668" y="4617720"/>
            <a:ext cx="475488" cy="256032"/>
          </a:xfrm>
          <a:prstGeom prst="rect">
            <a:avLst/>
          </a:prstGeom>
          <a:solidFill>
            <a:srgbClr val="A8BFFB"/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87668" y="461772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4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031736" y="4617720"/>
            <a:ext cx="475488" cy="256032"/>
          </a:xfrm>
          <a:prstGeom prst="rect">
            <a:avLst/>
          </a:prstGeom>
          <a:solidFill>
            <a:srgbClr val="A8BFFB"/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31736" y="461772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4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575804" y="4617720"/>
            <a:ext cx="475488" cy="256032"/>
          </a:xfrm>
          <a:prstGeom prst="rect">
            <a:avLst/>
          </a:prstGeom>
          <a:solidFill>
            <a:srgbClr val="A8BFFB"/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75804" y="461772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4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19872" y="4617720"/>
            <a:ext cx="475488" cy="256032"/>
          </a:xfrm>
          <a:prstGeom prst="rect">
            <a:avLst/>
          </a:prstGeom>
          <a:solidFill>
            <a:srgbClr val="A8BFFB"/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9872" y="461772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4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4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029200" cy="5029200"/>
          </a:xfrm>
          <a:prstGeom prst="ellipse">
            <a:avLst/>
          </a:prstGeom>
          <a:solidFill>
            <a:srgbClr val="4361EE">
              <a:alpha val="18000"/>
            </a:srgbClr>
          </a:solidFill>
          <a:ln w="12700">
            <a:solidFill>
              <a:srgbClr val="4361EE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6B8FF5">
              <a:alpha val="15000"/>
            </a:srgbClr>
          </a:solidFill>
          <a:ln w="12700">
            <a:solidFill>
              <a:srgbClr val="6B8FF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56032"/>
            <a:ext cx="3931920" cy="4572000"/>
          </a:xfrm>
          <a:prstGeom prst="rect">
            <a:avLst/>
          </a:prstGeom>
          <a:solidFill>
            <a:srgbClr val="4361EE">
              <a:alpha val="8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256032"/>
            <a:ext cx="393192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938528" y="804672"/>
            <a:ext cx="2926080" cy="2926080"/>
          </a:xfrm>
          <a:prstGeom prst="ellipse">
            <a:avLst/>
          </a:prstGeom>
          <a:solidFill>
            <a:srgbClr val="1A3BAA">
              <a:alpha val="35000"/>
            </a:srgbClr>
          </a:solidFill>
          <a:ln w="12700">
            <a:solidFill>
              <a:srgbClr val="1A3BAA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 ·  Brand Awareness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2496312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Africa's talent pool is growing fast—are you tapping into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80560" y="20116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solidFill>
            <a:srgbClr val="4361EE">
              <a:alpha val="30000"/>
            </a:srgbClr>
          </a:solidFill>
          <a:ln w="12700">
            <a:solidFill>
              <a:srgbClr val="A8BFFB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Post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80560" y="5943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AWARENESS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0" y="896112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Africa's talent pool is growing fast—are you tapping into it?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480560" y="2331720"/>
            <a:ext cx="685800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2468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80560" y="269748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skilled, vetted professionals ready to scale your business globally.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80560" y="38404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#AfricanTalent  #GlobalHiring  #RemoteWork  #FutureOfWork  #Umurava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80560" y="4434840"/>
            <a:ext cx="4343400" cy="438912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4434840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time to post:   9:00 AM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48646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B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029200" cy="5029200"/>
          </a:xfrm>
          <a:prstGeom prst="ellipse">
            <a:avLst/>
          </a:prstGeom>
          <a:solidFill>
            <a:srgbClr val="4361EE">
              <a:alpha val="18000"/>
            </a:srgbClr>
          </a:solidFill>
          <a:ln w="12700">
            <a:solidFill>
              <a:srgbClr val="4361EE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6B8FF5">
              <a:alpha val="15000"/>
            </a:srgbClr>
          </a:solidFill>
          <a:ln w="12700">
            <a:solidFill>
              <a:srgbClr val="6B8FF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56032"/>
            <a:ext cx="3931920" cy="4572000"/>
          </a:xfrm>
          <a:prstGeom prst="rect">
            <a:avLst/>
          </a:prstGeom>
          <a:solidFill>
            <a:srgbClr val="6B8FF5">
              <a:alpha val="8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256032"/>
            <a:ext cx="393192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938528" y="804672"/>
            <a:ext cx="2926080" cy="2926080"/>
          </a:xfrm>
          <a:prstGeom prst="ellipse">
            <a:avLst/>
          </a:prstGeom>
          <a:solidFill>
            <a:srgbClr val="1A3BAA">
              <a:alpha val="35000"/>
            </a:srgbClr>
          </a:solidFill>
          <a:ln w="12700">
            <a:solidFill>
              <a:srgbClr val="1A3BAA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 ·  Value Proposition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2496312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Hiring globally doesn't have to be complicated.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solidFill>
            <a:srgbClr val="1A3BAA">
              <a:alpha val="60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Pre-vetted  ·  Fast  ·  Reliable  ·  Cost-Effective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480560" y="20116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solidFill>
            <a:srgbClr val="4361EE">
              <a:alpha val="30000"/>
            </a:srgbClr>
          </a:solidFill>
          <a:ln w="12700">
            <a:solidFill>
              <a:srgbClr val="A8BFFB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80560" y="5943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896112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Hiring globally doesn't have to be complicated.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480560" y="2331720"/>
            <a:ext cx="685800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2468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80560" y="269748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 connects you with pre-vetted digital talent — fast, reliable, and cost-effective.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0560" y="38404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#HireSmart  #OutsourceAfrica  #DigitalTalent  #BusinessGrowth  #RemoteTeams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4434840"/>
            <a:ext cx="4343400" cy="438912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4434840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time to post:   12:00 PM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48646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050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029200" cy="5029200"/>
          </a:xfrm>
          <a:prstGeom prst="ellipse">
            <a:avLst/>
          </a:prstGeom>
          <a:solidFill>
            <a:srgbClr val="4361EE">
              <a:alpha val="18000"/>
            </a:srgbClr>
          </a:solidFill>
          <a:ln w="12700">
            <a:solidFill>
              <a:srgbClr val="4361EE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6B8FF5">
              <a:alpha val="15000"/>
            </a:srgbClr>
          </a:solidFill>
          <a:ln w="12700">
            <a:solidFill>
              <a:srgbClr val="6B8FF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56032"/>
            <a:ext cx="3931920" cy="4572000"/>
          </a:xfrm>
          <a:prstGeom prst="rect">
            <a:avLst/>
          </a:prstGeom>
          <a:solidFill>
            <a:srgbClr val="4361EE">
              <a:alpha val="8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256032"/>
            <a:ext cx="393192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938528" y="804672"/>
            <a:ext cx="2926080" cy="2926080"/>
          </a:xfrm>
          <a:prstGeom prst="ellipse">
            <a:avLst/>
          </a:prstGeom>
          <a:solidFill>
            <a:srgbClr val="1A3BAA">
              <a:alpha val="35000"/>
            </a:srgbClr>
          </a:solidFill>
          <a:ln w="12700">
            <a:solidFill>
              <a:srgbClr val="1A3BAA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 ·  Educational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1078992"/>
            <a:ext cx="36027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7000" dirty="0"/>
          </a:p>
        </p:txBody>
      </p:sp>
      <p:sp>
        <p:nvSpPr>
          <p:cNvPr id="12" name="Text 10"/>
          <p:cNvSpPr/>
          <p:nvPr/>
        </p:nvSpPr>
        <p:spPr>
          <a:xfrm>
            <a:off x="475488" y="2496312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reasons companies are outsourcing talent from Africa.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solidFill>
            <a:srgbClr val="1A3BAA">
              <a:alpha val="60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Reasons to hire from Africa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480560" y="20116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solidFill>
            <a:srgbClr val="4361EE">
              <a:alpha val="30000"/>
            </a:srgbClr>
          </a:solidFill>
          <a:ln w="12700">
            <a:solidFill>
              <a:srgbClr val="A8BFFB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80560" y="5943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896112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reasons companies are outsourcing talent from Africa.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480560" y="2331720"/>
            <a:ext cx="685800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2468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80560" y="269748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efficiency · High-quality skills · Time zone flexibility · Diversity · Scalability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80560" y="38404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#Outsourcing  #BusinessStrategy  #ScalingTeams  #AfricaRising  #Leadership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80560" y="4434840"/>
            <a:ext cx="4343400" cy="438912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434840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time to post:   10:00 AM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" y="48646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4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029200" cy="5029200"/>
          </a:xfrm>
          <a:prstGeom prst="ellipse">
            <a:avLst/>
          </a:prstGeom>
          <a:solidFill>
            <a:srgbClr val="4361EE">
              <a:alpha val="18000"/>
            </a:srgbClr>
          </a:solidFill>
          <a:ln w="12700">
            <a:solidFill>
              <a:srgbClr val="4361EE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6B8FF5">
              <a:alpha val="15000"/>
            </a:srgbClr>
          </a:solidFill>
          <a:ln w="12700">
            <a:solidFill>
              <a:srgbClr val="6B8FF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56032"/>
            <a:ext cx="3931920" cy="4572000"/>
          </a:xfrm>
          <a:prstGeom prst="rect">
            <a:avLst/>
          </a:prstGeom>
          <a:solidFill>
            <a:srgbClr val="6B8FF5">
              <a:alpha val="8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256032"/>
            <a:ext cx="393192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938528" y="804672"/>
            <a:ext cx="2926080" cy="2926080"/>
          </a:xfrm>
          <a:prstGeom prst="ellipse">
            <a:avLst/>
          </a:prstGeom>
          <a:solidFill>
            <a:srgbClr val="1A3BAA">
              <a:alpha val="35000"/>
            </a:srgbClr>
          </a:solidFill>
          <a:ln w="12700">
            <a:solidFill>
              <a:srgbClr val="1A3BAA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 ·  Social Proof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29768" y="1033272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475488" y="2496312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"Umurava helped us build a high-performing remote team in weeks."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solidFill>
            <a:srgbClr val="1A3BAA">
              <a:alpha val="60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Verified Client, Global Operations Lead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480560" y="20116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solidFill>
            <a:srgbClr val="4361EE">
              <a:alpha val="30000"/>
            </a:srgbClr>
          </a:solidFill>
          <a:ln w="12700">
            <a:solidFill>
              <a:srgbClr val="A8BFFB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Graphic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80560" y="5943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PROOF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896112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"Umurava helped us build a high-performing remote team in weeks."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480560" y="2331720"/>
            <a:ext cx="685800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2468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80560" y="269748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companies leveraging Africa's digital workforce today.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80560" y="38404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#ClientSuccess  #Testimonials  #RemoteHiring  #Trust  #Umurava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80560" y="4434840"/>
            <a:ext cx="4343400" cy="438912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434840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time to post:   2:00 PM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" y="48646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B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029200" cy="5029200"/>
          </a:xfrm>
          <a:prstGeom prst="ellipse">
            <a:avLst/>
          </a:prstGeom>
          <a:solidFill>
            <a:srgbClr val="4361EE">
              <a:alpha val="18000"/>
            </a:srgbClr>
          </a:solidFill>
          <a:ln w="12700">
            <a:solidFill>
              <a:srgbClr val="4361EE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6B8FF5">
              <a:alpha val="15000"/>
            </a:srgbClr>
          </a:solidFill>
          <a:ln w="12700">
            <a:solidFill>
              <a:srgbClr val="6B8FF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56032"/>
            <a:ext cx="3931920" cy="4572000"/>
          </a:xfrm>
          <a:prstGeom prst="rect">
            <a:avLst/>
          </a:prstGeom>
          <a:solidFill>
            <a:srgbClr val="4361EE">
              <a:alpha val="8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256032"/>
            <a:ext cx="393192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938528" y="804672"/>
            <a:ext cx="2926080" cy="2926080"/>
          </a:xfrm>
          <a:prstGeom prst="ellipse">
            <a:avLst/>
          </a:prstGeom>
          <a:solidFill>
            <a:srgbClr val="1A3BAA">
              <a:alpha val="35000"/>
            </a:srgbClr>
          </a:solidFill>
          <a:ln w="12700">
            <a:solidFill>
              <a:srgbClr val="1A3BAA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 ·  Service Highlight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2496312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sourcing to onboarding, Umurava handles it all.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solidFill>
            <a:srgbClr val="1A3BAA">
              <a:alpha val="60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Talent Management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480560" y="20116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solidFill>
            <a:srgbClr val="4361EE">
              <a:alpha val="30000"/>
            </a:srgbClr>
          </a:solidFill>
          <a:ln w="12700">
            <a:solidFill>
              <a:srgbClr val="A8BFFB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Video / Reel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80560" y="5943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HIGHLIGHT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896112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sourcing to onboarding, Umurava handles it all.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480560" y="2331720"/>
            <a:ext cx="685800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2468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80560" y="269748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 can stay 100% focused on what matters most — growing your business.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0560" y="38404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#TalentSolutions  #Outsourcing  #HRLeaders  #BusinessEfficiency  #Umurava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4434840"/>
            <a:ext cx="4343400" cy="438912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4434840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time to post:   11:00 AM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48646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B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029200" cy="5029200"/>
          </a:xfrm>
          <a:prstGeom prst="ellipse">
            <a:avLst/>
          </a:prstGeom>
          <a:solidFill>
            <a:srgbClr val="4361EE">
              <a:alpha val="18000"/>
            </a:srgbClr>
          </a:solidFill>
          <a:ln w="12700">
            <a:solidFill>
              <a:srgbClr val="4361EE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6B8FF5">
              <a:alpha val="15000"/>
            </a:srgbClr>
          </a:solidFill>
          <a:ln w="12700">
            <a:solidFill>
              <a:srgbClr val="6B8FF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56032"/>
            <a:ext cx="3931920" cy="4572000"/>
          </a:xfrm>
          <a:prstGeom prst="rect">
            <a:avLst/>
          </a:prstGeom>
          <a:solidFill>
            <a:srgbClr val="6B8FF5">
              <a:alpha val="8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256032"/>
            <a:ext cx="393192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938528" y="804672"/>
            <a:ext cx="2926080" cy="2926080"/>
          </a:xfrm>
          <a:prstGeom prst="ellipse">
            <a:avLst/>
          </a:prstGeom>
          <a:solidFill>
            <a:srgbClr val="1A3BAA">
              <a:alpha val="35000"/>
            </a:srgbClr>
          </a:solidFill>
          <a:ln w="12700">
            <a:solidFill>
              <a:srgbClr val="1A3BAA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 ·  Industry Insight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1078992"/>
            <a:ext cx="36027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80%+</a:t>
            </a:r>
            <a:endParaRPr lang="en-US" sz="7000" dirty="0"/>
          </a:p>
        </p:txBody>
      </p:sp>
      <p:sp>
        <p:nvSpPr>
          <p:cNvPr id="12" name="Text 10"/>
          <p:cNvSpPr/>
          <p:nvPr/>
        </p:nvSpPr>
        <p:spPr>
          <a:xfrm>
            <a:off x="475488" y="2496312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 80% of companies now rely on remote teams.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solidFill>
            <a:srgbClr val="1A3BAA">
              <a:alpha val="60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companies rely on remote teams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480560" y="20116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solidFill>
            <a:srgbClr val="4361EE">
              <a:alpha val="30000"/>
            </a:srgbClr>
          </a:solidFill>
          <a:ln w="12700">
            <a:solidFill>
              <a:srgbClr val="A8BFFB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Post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80560" y="5943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INSIGHT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896112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 80% of companies now rely on remote teams.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480560" y="2331720"/>
            <a:ext cx="685800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2468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80560" y="269748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ahead — build a global workforce today before your competitors do.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80560" y="38404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#RemoteWork  #FutureOfBusiness  #DigitalTransformation  #Leadership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80560" y="4434840"/>
            <a:ext cx="4343400" cy="438912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434840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time to post:   9:30 AM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" y="48646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050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029200" cy="5029200"/>
          </a:xfrm>
          <a:prstGeom prst="ellipse">
            <a:avLst/>
          </a:prstGeom>
          <a:solidFill>
            <a:srgbClr val="4361EE">
              <a:alpha val="18000"/>
            </a:srgbClr>
          </a:solidFill>
          <a:ln w="12700">
            <a:solidFill>
              <a:srgbClr val="4361EE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6B8FF5">
              <a:alpha val="15000"/>
            </a:srgbClr>
          </a:solidFill>
          <a:ln w="12700">
            <a:solidFill>
              <a:srgbClr val="6B8FF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56032"/>
            <a:ext cx="3931920" cy="4572000"/>
          </a:xfrm>
          <a:prstGeom prst="rect">
            <a:avLst/>
          </a:prstGeom>
          <a:solidFill>
            <a:srgbClr val="4361EE">
              <a:alpha val="8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256032"/>
            <a:ext cx="393192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938528" y="804672"/>
            <a:ext cx="2926080" cy="2926080"/>
          </a:xfrm>
          <a:prstGeom prst="ellipse">
            <a:avLst/>
          </a:prstGeom>
          <a:solidFill>
            <a:srgbClr val="1A3BAA">
              <a:alpha val="35000"/>
            </a:srgbClr>
          </a:solidFill>
          <a:ln w="12700">
            <a:solidFill>
              <a:srgbClr val="1A3BAA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7  ·  Talent Showcase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2496312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Africa's top digital talent — skilled &amp; ready.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solidFill>
            <a:srgbClr val="1A3BAA">
              <a:alpha val="60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 ·  Development  ·  Marketing  ·  Design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480560" y="20116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solidFill>
            <a:srgbClr val="4361EE">
              <a:alpha val="30000"/>
            </a:srgbClr>
          </a:solidFill>
          <a:ln w="12700">
            <a:solidFill>
              <a:srgbClr val="A8BFFB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80560" y="5943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SHOWCASE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896112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Africa's top digital talent — skilled &amp; ready.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480560" y="2331720"/>
            <a:ext cx="685800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2468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80560" y="269748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Professionals in AI, marketing, software development, and more. Ready to join your team.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0560" y="38404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#TalentSpotlight  #HireAfrica  #TechTalent  #GlobalTeams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4434840"/>
            <a:ext cx="4343400" cy="438912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4434840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time to post:   1:00 PM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48646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4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029200" cy="5029200"/>
          </a:xfrm>
          <a:prstGeom prst="ellipse">
            <a:avLst/>
          </a:prstGeom>
          <a:solidFill>
            <a:srgbClr val="4361EE">
              <a:alpha val="18000"/>
            </a:srgbClr>
          </a:solidFill>
          <a:ln w="12700">
            <a:solidFill>
              <a:srgbClr val="4361EE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6B8FF5">
              <a:alpha val="15000"/>
            </a:srgbClr>
          </a:solidFill>
          <a:ln w="12700">
            <a:solidFill>
              <a:srgbClr val="6B8FF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56032"/>
            <a:ext cx="3931920" cy="4572000"/>
          </a:xfrm>
          <a:prstGeom prst="rect">
            <a:avLst/>
          </a:prstGeom>
          <a:solidFill>
            <a:srgbClr val="6B8FF5">
              <a:alpha val="8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256032"/>
            <a:ext cx="393192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938528" y="804672"/>
            <a:ext cx="2926080" cy="2926080"/>
          </a:xfrm>
          <a:prstGeom prst="ellipse">
            <a:avLst/>
          </a:prstGeom>
          <a:solidFill>
            <a:srgbClr val="1A3BAA">
              <a:alpha val="35000"/>
            </a:srgbClr>
          </a:solidFill>
          <a:ln w="12700">
            <a:solidFill>
              <a:srgbClr val="1A3BAA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8  ·  Problem / Solution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2496312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Struggling to find reliable talent?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solidFill>
            <a:srgbClr val="1A3BAA">
              <a:alpha val="60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Vetted  ·  Reliable  ·  Seamless Integration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480560" y="20116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solidFill>
            <a:srgbClr val="4361EE">
              <a:alpha val="30000"/>
            </a:srgbClr>
          </a:solidFill>
          <a:ln w="12700">
            <a:solidFill>
              <a:srgbClr val="A8BFFB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80560" y="5943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/ SOLUTION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896112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Struggling to find reliable talent?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480560" y="2331720"/>
            <a:ext cx="685800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2468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80560" y="269748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 delivers vetted professionals who integrate seamlessly into your workflow.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0560" y="38404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#HiringChallenges  #HRSolutions  #BusinessGrowth  #OutsourceSmart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4434840"/>
            <a:ext cx="4343400" cy="438912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4434840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time to post:   10:30 AM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48646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B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029200" cy="5029200"/>
          </a:xfrm>
          <a:prstGeom prst="ellipse">
            <a:avLst/>
          </a:prstGeom>
          <a:solidFill>
            <a:srgbClr val="4361EE">
              <a:alpha val="18000"/>
            </a:srgbClr>
          </a:solidFill>
          <a:ln w="12700">
            <a:solidFill>
              <a:srgbClr val="4361EE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6B8FF5">
              <a:alpha val="15000"/>
            </a:srgbClr>
          </a:solidFill>
          <a:ln w="12700">
            <a:solidFill>
              <a:srgbClr val="6B8FF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56032"/>
            <a:ext cx="3931920" cy="4572000"/>
          </a:xfrm>
          <a:prstGeom prst="rect">
            <a:avLst/>
          </a:prstGeom>
          <a:solidFill>
            <a:srgbClr val="4361EE">
              <a:alpha val="8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256032"/>
            <a:ext cx="393192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938528" y="804672"/>
            <a:ext cx="2926080" cy="2926080"/>
          </a:xfrm>
          <a:prstGeom prst="ellipse">
            <a:avLst/>
          </a:prstGeom>
          <a:solidFill>
            <a:srgbClr val="1A3BAA">
              <a:alpha val="35000"/>
            </a:srgbClr>
          </a:solidFill>
          <a:ln w="12700">
            <a:solidFill>
              <a:srgbClr val="1A3BAA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9  ·  Thought Leadership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2496312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hiring is global.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solidFill>
            <a:srgbClr val="1A3BAA">
              <a:alpha val="60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Expert Insight — Watch Now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480560" y="20116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solidFill>
            <a:srgbClr val="4361EE">
              <a:alpha val="30000"/>
            </a:srgbClr>
          </a:solidFill>
          <a:ln w="12700">
            <a:solidFill>
              <a:srgbClr val="A8BFFB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80560" y="5943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 LEADERSHIP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896112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hiring is global.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480560" y="2331720"/>
            <a:ext cx="685800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2468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80560" y="269748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how to build agile, high-performing remote teams with Umurava.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0560" y="38404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#Leadership  #FutureOfWork  #GlobalTeams  #CEOInsights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4434840"/>
            <a:ext cx="4343400" cy="438912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4434840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time to post:   3:00 PM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48646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050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029200" cy="5029200"/>
          </a:xfrm>
          <a:prstGeom prst="ellipse">
            <a:avLst/>
          </a:prstGeom>
          <a:solidFill>
            <a:srgbClr val="4361EE">
              <a:alpha val="18000"/>
            </a:srgbClr>
          </a:solidFill>
          <a:ln w="12700">
            <a:solidFill>
              <a:srgbClr val="4361EE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6B8FF5">
              <a:alpha val="15000"/>
            </a:srgbClr>
          </a:solidFill>
          <a:ln w="12700">
            <a:solidFill>
              <a:srgbClr val="6B8FF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56032"/>
            <a:ext cx="3931920" cy="4572000"/>
          </a:xfrm>
          <a:prstGeom prst="rect">
            <a:avLst/>
          </a:prstGeom>
          <a:solidFill>
            <a:srgbClr val="6B8FF5">
              <a:alpha val="8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256032"/>
            <a:ext cx="393192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938528" y="804672"/>
            <a:ext cx="2926080" cy="2926080"/>
          </a:xfrm>
          <a:prstGeom prst="ellipse">
            <a:avLst/>
          </a:prstGeom>
          <a:solidFill>
            <a:srgbClr val="1A3BAA">
              <a:alpha val="35000"/>
            </a:srgbClr>
          </a:solidFill>
          <a:ln w="12700">
            <a:solidFill>
              <a:srgbClr val="1A3BAA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10  ·  Case Study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1078992"/>
            <a:ext cx="36027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7000" dirty="0"/>
          </a:p>
        </p:txBody>
      </p:sp>
      <p:sp>
        <p:nvSpPr>
          <p:cNvPr id="12" name="Text 10"/>
          <p:cNvSpPr/>
          <p:nvPr/>
        </p:nvSpPr>
        <p:spPr>
          <a:xfrm>
            <a:off x="475488" y="2496312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one company scaled operations by 3× with Umurava.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solidFill>
            <a:srgbClr val="1A3BAA">
              <a:alpha val="60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scaled in weeks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480560" y="20116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solidFill>
            <a:srgbClr val="4361EE">
              <a:alpha val="30000"/>
            </a:srgbClr>
          </a:solidFill>
          <a:ln w="12700">
            <a:solidFill>
              <a:srgbClr val="A8BFFB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80560" y="5943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896112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one company scaled operations by 3× with Umurava.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480560" y="2331720"/>
            <a:ext cx="685800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2468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80560" y="269748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talent done right — from hire to high performance, in weeks not months.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80560" y="38404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#CaseStudy  #BusinessSuccess  #Scaling  #RemoteTeams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80560" y="4434840"/>
            <a:ext cx="4343400" cy="438912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434840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time to post:   12:30 PM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" y="48646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B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029200" cy="5029200"/>
          </a:xfrm>
          <a:prstGeom prst="ellipse">
            <a:avLst/>
          </a:prstGeom>
          <a:solidFill>
            <a:srgbClr val="4361EE">
              <a:alpha val="18000"/>
            </a:srgbClr>
          </a:solidFill>
          <a:ln w="12700">
            <a:solidFill>
              <a:srgbClr val="4361EE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6B8FF5">
              <a:alpha val="15000"/>
            </a:srgbClr>
          </a:solidFill>
          <a:ln w="12700">
            <a:solidFill>
              <a:srgbClr val="6B8FF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56032"/>
            <a:ext cx="3931920" cy="4572000"/>
          </a:xfrm>
          <a:prstGeom prst="rect">
            <a:avLst/>
          </a:prstGeom>
          <a:solidFill>
            <a:srgbClr val="4361EE">
              <a:alpha val="8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256032"/>
            <a:ext cx="393192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938528" y="804672"/>
            <a:ext cx="2926080" cy="2926080"/>
          </a:xfrm>
          <a:prstGeom prst="ellipse">
            <a:avLst/>
          </a:prstGeom>
          <a:solidFill>
            <a:srgbClr val="1A3BAA">
              <a:alpha val="35000"/>
            </a:srgbClr>
          </a:solidFill>
          <a:ln w="12700">
            <a:solidFill>
              <a:srgbClr val="1A3BAA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11  ·  Educational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2496312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look for when hiring remote talent.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solidFill>
            <a:srgbClr val="1A3BAA">
              <a:alpha val="60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Key Qualities — Already Verified by Umurava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480560" y="20116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solidFill>
            <a:srgbClr val="4361EE">
              <a:alpha val="30000"/>
            </a:srgbClr>
          </a:solidFill>
          <a:ln w="12700">
            <a:solidFill>
              <a:srgbClr val="A8BFFB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80560" y="5943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896112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look for when hiring remote talent.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480560" y="2331720"/>
            <a:ext cx="685800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2468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80560" y="269748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· Communication · Reliability · Adaptability. We've done the vetting for you.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0560" y="38404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#HiringTips  #HRLeaders  #RemoteHiring  #BusinessStrategy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4434840"/>
            <a:ext cx="4343400" cy="438912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4434840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time to post:   9:00 AM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48646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4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029200" cy="5029200"/>
          </a:xfrm>
          <a:prstGeom prst="ellipse">
            <a:avLst/>
          </a:prstGeom>
          <a:solidFill>
            <a:srgbClr val="4361EE">
              <a:alpha val="18000"/>
            </a:srgbClr>
          </a:solidFill>
          <a:ln w="12700">
            <a:solidFill>
              <a:srgbClr val="4361EE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6B8FF5">
              <a:alpha val="15000"/>
            </a:srgbClr>
          </a:solidFill>
          <a:ln w="12700">
            <a:solidFill>
              <a:srgbClr val="6B8FF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56032"/>
            <a:ext cx="3931920" cy="4572000"/>
          </a:xfrm>
          <a:prstGeom prst="rect">
            <a:avLst/>
          </a:prstGeom>
          <a:solidFill>
            <a:srgbClr val="6B8FF5">
              <a:alpha val="8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256032"/>
            <a:ext cx="393192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938528" y="804672"/>
            <a:ext cx="2926080" cy="2926080"/>
          </a:xfrm>
          <a:prstGeom prst="ellipse">
            <a:avLst/>
          </a:prstGeom>
          <a:solidFill>
            <a:srgbClr val="1A3BAA">
              <a:alpha val="35000"/>
            </a:srgbClr>
          </a:solidFill>
          <a:ln w="12700">
            <a:solidFill>
              <a:srgbClr val="1A3BAA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12  ·  Behind the Brand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2496312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Bridging global opportunity with Africa's brightest minds.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solidFill>
            <a:srgbClr val="1A3BAA">
              <a:alpha val="60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People. Our Purpose.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480560" y="20116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solidFill>
            <a:srgbClr val="4361EE">
              <a:alpha val="30000"/>
            </a:srgbClr>
          </a:solidFill>
          <a:ln w="12700">
            <a:solidFill>
              <a:srgbClr val="A8BFFB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Post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80560" y="5943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BRAND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896112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Bridging global opportunity with Africa's brightest minds.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480560" y="2331720"/>
            <a:ext cx="685800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2468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80560" y="269748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Umurava, this isn't just our mission — it's our daily commitment.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0560" y="38404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#CompanyCulture  #Impact  #AfricanExcellence  #Umurava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4434840"/>
            <a:ext cx="4343400" cy="438912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4434840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time to post:   2:00 PM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48646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050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029200" cy="5029200"/>
          </a:xfrm>
          <a:prstGeom prst="ellipse">
            <a:avLst/>
          </a:prstGeom>
          <a:solidFill>
            <a:srgbClr val="4361EE">
              <a:alpha val="18000"/>
            </a:srgbClr>
          </a:solidFill>
          <a:ln w="12700">
            <a:solidFill>
              <a:srgbClr val="4361EE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6B8FF5">
              <a:alpha val="15000"/>
            </a:srgbClr>
          </a:solidFill>
          <a:ln w="12700">
            <a:solidFill>
              <a:srgbClr val="6B8FF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56032"/>
            <a:ext cx="3931920" cy="4572000"/>
          </a:xfrm>
          <a:prstGeom prst="rect">
            <a:avLst/>
          </a:prstGeom>
          <a:solidFill>
            <a:srgbClr val="4361EE">
              <a:alpha val="8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256032"/>
            <a:ext cx="393192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938528" y="804672"/>
            <a:ext cx="2926080" cy="2926080"/>
          </a:xfrm>
          <a:prstGeom prst="ellipse">
            <a:avLst/>
          </a:prstGeom>
          <a:solidFill>
            <a:srgbClr val="1A3BAA">
              <a:alpha val="35000"/>
            </a:srgbClr>
          </a:solidFill>
          <a:ln w="12700">
            <a:solidFill>
              <a:srgbClr val="1A3BAA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13  ·  Offer / CTA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2496312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Looking to scale your team?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solidFill>
            <a:srgbClr val="1A3BAA">
              <a:alpha val="60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Umurava →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480560" y="20116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solidFill>
            <a:srgbClr val="4361EE">
              <a:alpha val="30000"/>
            </a:srgbClr>
          </a:solidFill>
          <a:ln w="12700">
            <a:solidFill>
              <a:srgbClr val="A8BFFB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Post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80560" y="5943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/ CTA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896112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Looking to scale your team?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480560" y="2331720"/>
            <a:ext cx="685800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2468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80560" y="269748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Umurava and access top-tier African talent today. No delays, no hassle.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0560" y="38404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#CallToAction  #HireNow  #BusinessGrowth  #OutsourceAfrica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4434840"/>
            <a:ext cx="4343400" cy="438912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4434840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time to post:   11:30 AM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48646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B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029200" cy="5029200"/>
          </a:xfrm>
          <a:prstGeom prst="ellipse">
            <a:avLst/>
          </a:prstGeom>
          <a:solidFill>
            <a:srgbClr val="4361EE">
              <a:alpha val="18000"/>
            </a:srgbClr>
          </a:solidFill>
          <a:ln w="12700">
            <a:solidFill>
              <a:srgbClr val="4361EE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6B8FF5">
              <a:alpha val="15000"/>
            </a:srgbClr>
          </a:solidFill>
          <a:ln w="12700">
            <a:solidFill>
              <a:srgbClr val="6B8FF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56032"/>
            <a:ext cx="3931920" cy="4572000"/>
          </a:xfrm>
          <a:prstGeom prst="rect">
            <a:avLst/>
          </a:prstGeom>
          <a:solidFill>
            <a:srgbClr val="6B8FF5">
              <a:alpha val="8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256032"/>
            <a:ext cx="393192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938528" y="804672"/>
            <a:ext cx="2926080" cy="2926080"/>
          </a:xfrm>
          <a:prstGeom prst="ellipse">
            <a:avLst/>
          </a:prstGeom>
          <a:solidFill>
            <a:srgbClr val="1A3BAA">
              <a:alpha val="35000"/>
            </a:srgbClr>
          </a:solidFill>
          <a:ln w="12700">
            <a:solidFill>
              <a:srgbClr val="1A3BAA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  ·  FAQ / Objections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2496312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Worried about managing a remote team?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solidFill>
            <a:srgbClr val="1A3BAA">
              <a:alpha val="60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 ·  Tracking  ·  Ongoing Support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480560" y="20116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solidFill>
            <a:srgbClr val="4361EE">
              <a:alpha val="30000"/>
            </a:srgbClr>
          </a:solidFill>
          <a:ln w="12700">
            <a:solidFill>
              <a:srgbClr val="A8BFFB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80560" y="5943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/ OBJECTIONS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896112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Worried about managing a remote team?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480560" y="2331720"/>
            <a:ext cx="685800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2468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80560" y="269748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support you every step — from onboarding to performance tracking. You're never alone.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0560" y="38404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#FAQ  #HRSupport  #RemoteTeams  #Leadership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4434840"/>
            <a:ext cx="4343400" cy="438912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4434840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time to post:   10:00 AM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48646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4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029200" cy="5029200"/>
          </a:xfrm>
          <a:prstGeom prst="ellipse">
            <a:avLst/>
          </a:prstGeom>
          <a:solidFill>
            <a:srgbClr val="4361EE">
              <a:alpha val="18000"/>
            </a:srgbClr>
          </a:solidFill>
          <a:ln w="12700">
            <a:solidFill>
              <a:srgbClr val="4361EE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6B8FF5">
              <a:alpha val="15000"/>
            </a:srgbClr>
          </a:solidFill>
          <a:ln w="12700">
            <a:solidFill>
              <a:srgbClr val="6B8FF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" y="256032"/>
            <a:ext cx="3931920" cy="4572000"/>
          </a:xfrm>
          <a:prstGeom prst="rect">
            <a:avLst/>
          </a:prstGeom>
          <a:solidFill>
            <a:srgbClr val="4361EE">
              <a:alpha val="8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256032"/>
            <a:ext cx="393192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938528" y="804672"/>
            <a:ext cx="2926080" cy="2926080"/>
          </a:xfrm>
          <a:prstGeom prst="ellipse">
            <a:avLst/>
          </a:prstGeom>
          <a:solidFill>
            <a:srgbClr val="1A3BAA">
              <a:alpha val="35000"/>
            </a:srgbClr>
          </a:solidFill>
          <a:ln w="12700">
            <a:solidFill>
              <a:srgbClr val="1A3BAA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731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15  ·  Strong CTA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2496312"/>
            <a:ext cx="356616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next top performer could be in Africa.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solidFill>
            <a:srgbClr val="1A3BAA">
              <a:alpha val="60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407822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Building Your Global Team →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480560" y="20116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solidFill>
            <a:srgbClr val="4361EE">
              <a:alpha val="30000"/>
            </a:srgbClr>
          </a:solidFill>
          <a:ln w="12700">
            <a:solidFill>
              <a:srgbClr val="A8BFFB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377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/ Static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80560" y="5943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896112"/>
            <a:ext cx="4343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next top performer could be in Africa.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480560" y="2331720"/>
            <a:ext cx="685800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2468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480560" y="269748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E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building your global team with Umurava today. The talent is ready — are you?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36118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80560" y="38404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#GlobalHiring  #TalentSolutions  #FutureOfWork  #Umurava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4434840"/>
            <a:ext cx="4343400" cy="438912"/>
          </a:xfrm>
          <a:prstGeom prst="rect">
            <a:avLst/>
          </a:prstGeom>
          <a:solidFill>
            <a:srgbClr val="1A3BAA">
              <a:alpha val="55000"/>
            </a:srgbClr>
          </a:solidFill>
          <a:ln w="12700">
            <a:solidFill>
              <a:srgbClr val="1A3B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4434840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time to post:   Best Time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48646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34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114800" cy="4114800"/>
          </a:xfrm>
          <a:prstGeom prst="ellipse">
            <a:avLst/>
          </a:prstGeom>
          <a:solidFill>
            <a:srgbClr val="4361EE">
              <a:alpha val="22000"/>
            </a:srgbClr>
          </a:solidFill>
          <a:ln w="12700">
            <a:solidFill>
              <a:srgbClr val="4361EE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6B8FF5">
              <a:alpha val="22000"/>
            </a:srgbClr>
          </a:solidFill>
          <a:ln w="12700">
            <a:solidFill>
              <a:srgbClr val="6B8FF5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3200400"/>
            <a:ext cx="2286000" cy="2286000"/>
          </a:xfrm>
          <a:prstGeom prst="ellipse">
            <a:avLst/>
          </a:prstGeom>
          <a:solidFill>
            <a:srgbClr val="3050CC">
              <a:alpha val="18000"/>
            </a:srgbClr>
          </a:solidFill>
          <a:ln w="12700">
            <a:solidFill>
              <a:srgbClr val="3050CC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502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hiring</a:t>
            </a:r>
            <a:endParaRPr lang="en-US" sz="4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already here.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371600" y="3246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F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Umurava — Africa's premier digital talent platform.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17520" y="3886200"/>
            <a:ext cx="3108960" cy="54864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3886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umurava.africa 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Umurava 15-Day Social Media Calendar</dc:title>
  <dc:subject>PptxGenJS Presentation</dc:subject>
  <dc:creator>Umurava</dc:creator>
  <cp:lastModifiedBy>Umurava</cp:lastModifiedBy>
  <cp:revision>1</cp:revision>
  <dcterms:created xsi:type="dcterms:W3CDTF">2026-04-25T15:16:10Z</dcterms:created>
  <dcterms:modified xsi:type="dcterms:W3CDTF">2026-04-25T15:16:10Z</dcterms:modified>
</cp:coreProperties>
</file>